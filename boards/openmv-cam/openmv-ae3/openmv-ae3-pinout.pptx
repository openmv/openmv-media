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39BF"/>
    <a:srgbClr val="5A27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83" autoAdjust="0"/>
    <p:restoredTop sz="96425" autoAdjust="0"/>
  </p:normalViewPr>
  <p:slideViewPr>
    <p:cSldViewPr snapToGrid="0">
      <p:cViewPr varScale="1">
        <p:scale>
          <a:sx n="127" d="100"/>
          <a:sy n="127" d="100"/>
        </p:scale>
        <p:origin x="35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95101A-4907-46D3-ADD9-3FA9B1828FE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00C7AA-70E5-4D44-947A-40636CB1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618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0C7AA-70E5-4D44-947A-40636CB1EC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369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64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110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513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897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2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23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8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18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422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269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642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2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73B456-08B3-D6B8-6C8C-8FFC58654F4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4078629" y="1807347"/>
            <a:ext cx="3479731" cy="3433086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53812BC-8F23-FDEE-554B-1E15252208C6}"/>
              </a:ext>
            </a:extLst>
          </p:cNvPr>
          <p:cNvCxnSpPr>
            <a:cxnSpLocks/>
          </p:cNvCxnSpPr>
          <p:nvPr/>
        </p:nvCxnSpPr>
        <p:spPr>
          <a:xfrm>
            <a:off x="225513" y="5481512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6F69188-860C-6DA9-8AA6-51C0F7C32538}"/>
              </a:ext>
            </a:extLst>
          </p:cNvPr>
          <p:cNvCxnSpPr>
            <a:cxnSpLocks/>
          </p:cNvCxnSpPr>
          <p:nvPr/>
        </p:nvCxnSpPr>
        <p:spPr>
          <a:xfrm>
            <a:off x="225513" y="5830104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3325308-6428-3EE6-4C90-480C28370DC1}"/>
              </a:ext>
            </a:extLst>
          </p:cNvPr>
          <p:cNvCxnSpPr>
            <a:cxnSpLocks/>
          </p:cNvCxnSpPr>
          <p:nvPr/>
        </p:nvCxnSpPr>
        <p:spPr>
          <a:xfrm>
            <a:off x="225513" y="6177632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1059D596-2E3F-CFEF-7DE4-7B8F730796CE}"/>
              </a:ext>
            </a:extLst>
          </p:cNvPr>
          <p:cNvCxnSpPr>
            <a:cxnSpLocks/>
          </p:cNvCxnSpPr>
          <p:nvPr/>
        </p:nvCxnSpPr>
        <p:spPr>
          <a:xfrm>
            <a:off x="225513" y="6525104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26">
            <a:extLst>
              <a:ext uri="{FF2B5EF4-FFF2-40B4-BE49-F238E27FC236}">
                <a16:creationId xmlns:a16="http://schemas.microsoft.com/office/drawing/2014/main" id="{A5694A98-C304-726D-DE7F-B354956FF51B}"/>
              </a:ext>
            </a:extLst>
          </p:cNvPr>
          <p:cNvSpPr/>
          <p:nvPr/>
        </p:nvSpPr>
        <p:spPr>
          <a:xfrm>
            <a:off x="3324259" y="6058760"/>
            <a:ext cx="457200" cy="22860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P5</a:t>
            </a:r>
          </a:p>
        </p:txBody>
      </p:sp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D91DCC7A-C3AB-53AB-C119-A25AFBD0D5A6}"/>
              </a:ext>
            </a:extLst>
          </p:cNvPr>
          <p:cNvSpPr/>
          <p:nvPr/>
        </p:nvSpPr>
        <p:spPr>
          <a:xfrm>
            <a:off x="3324259" y="6409950"/>
            <a:ext cx="457200" cy="228600"/>
          </a:xfrm>
          <a:prstGeom prst="roundRect">
            <a:avLst/>
          </a:prstGeom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P4</a:t>
            </a:r>
          </a:p>
        </p:txBody>
      </p:sp>
      <p:sp>
        <p:nvSpPr>
          <p:cNvPr id="82" name="Rounded Rectangle 48">
            <a:extLst>
              <a:ext uri="{FF2B5EF4-FFF2-40B4-BE49-F238E27FC236}">
                <a16:creationId xmlns:a16="http://schemas.microsoft.com/office/drawing/2014/main" id="{BE7A0C4C-F386-306B-2AA0-56547076FB66}"/>
              </a:ext>
            </a:extLst>
          </p:cNvPr>
          <p:cNvSpPr/>
          <p:nvPr/>
        </p:nvSpPr>
        <p:spPr>
          <a:xfrm>
            <a:off x="387745" y="5708440"/>
            <a:ext cx="3419621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3.3V Rail (1A supply Max)</a:t>
            </a:r>
          </a:p>
        </p:txBody>
      </p:sp>
      <p:sp>
        <p:nvSpPr>
          <p:cNvPr id="85" name="Rounded Rectangle 49">
            <a:extLst>
              <a:ext uri="{FF2B5EF4-FFF2-40B4-BE49-F238E27FC236}">
                <a16:creationId xmlns:a16="http://schemas.microsoft.com/office/drawing/2014/main" id="{5167AA52-D03A-E770-A32E-90E5D63DBD3F}"/>
              </a:ext>
            </a:extLst>
          </p:cNvPr>
          <p:cNvSpPr/>
          <p:nvPr/>
        </p:nvSpPr>
        <p:spPr>
          <a:xfrm>
            <a:off x="387745" y="5367898"/>
            <a:ext cx="34169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GND Rail</a:t>
            </a:r>
          </a:p>
        </p:txBody>
      </p:sp>
      <p:sp>
        <p:nvSpPr>
          <p:cNvPr id="86" name="Rounded Rectangle 55">
            <a:extLst>
              <a:ext uri="{FF2B5EF4-FFF2-40B4-BE49-F238E27FC236}">
                <a16:creationId xmlns:a16="http://schemas.microsoft.com/office/drawing/2014/main" id="{9DECD110-AB0F-A9CD-3617-44E9EFAF7008}"/>
              </a:ext>
            </a:extLst>
          </p:cNvPr>
          <p:cNvSpPr/>
          <p:nvPr/>
        </p:nvSpPr>
        <p:spPr>
          <a:xfrm>
            <a:off x="2187829" y="6054060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I2C 1 SDA</a:t>
            </a:r>
          </a:p>
        </p:txBody>
      </p:sp>
      <p:sp>
        <p:nvSpPr>
          <p:cNvPr id="87" name="Rounded Rectangle 58">
            <a:extLst>
              <a:ext uri="{FF2B5EF4-FFF2-40B4-BE49-F238E27FC236}">
                <a16:creationId xmlns:a16="http://schemas.microsoft.com/office/drawing/2014/main" id="{4CBD4FD7-B05E-308D-E1FD-96691A2D25F9}"/>
              </a:ext>
            </a:extLst>
          </p:cNvPr>
          <p:cNvSpPr/>
          <p:nvPr/>
        </p:nvSpPr>
        <p:spPr>
          <a:xfrm>
            <a:off x="2187829" y="6403310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I2C 1 SCL</a:t>
            </a:r>
          </a:p>
        </p:txBody>
      </p:sp>
      <p:sp>
        <p:nvSpPr>
          <p:cNvPr id="96" name="Rounded Rectangle 89">
            <a:extLst>
              <a:ext uri="{FF2B5EF4-FFF2-40B4-BE49-F238E27FC236}">
                <a16:creationId xmlns:a16="http://schemas.microsoft.com/office/drawing/2014/main" id="{325CFA53-D212-DE45-9544-5817675F7459}"/>
              </a:ext>
            </a:extLst>
          </p:cNvPr>
          <p:cNvSpPr/>
          <p:nvPr/>
        </p:nvSpPr>
        <p:spPr>
          <a:xfrm>
            <a:off x="1537655" y="6403310"/>
            <a:ext cx="547678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1 TX</a:t>
            </a:r>
          </a:p>
        </p:txBody>
      </p:sp>
      <p:sp>
        <p:nvSpPr>
          <p:cNvPr id="99" name="Rounded Rectangle 107">
            <a:extLst>
              <a:ext uri="{FF2B5EF4-FFF2-40B4-BE49-F238E27FC236}">
                <a16:creationId xmlns:a16="http://schemas.microsoft.com/office/drawing/2014/main" id="{B30B9CFC-D15A-7315-86FE-12FF959DD51A}"/>
              </a:ext>
            </a:extLst>
          </p:cNvPr>
          <p:cNvSpPr/>
          <p:nvPr/>
        </p:nvSpPr>
        <p:spPr>
          <a:xfrm>
            <a:off x="1550385" y="6054060"/>
            <a:ext cx="541875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1 RX</a:t>
            </a:r>
          </a:p>
        </p:txBody>
      </p:sp>
      <p:sp>
        <p:nvSpPr>
          <p:cNvPr id="101" name="Rounded Rectangle 89">
            <a:extLst>
              <a:ext uri="{FF2B5EF4-FFF2-40B4-BE49-F238E27FC236}">
                <a16:creationId xmlns:a16="http://schemas.microsoft.com/office/drawing/2014/main" id="{5E5940AF-3533-40A4-28D6-8CD0EFA98DEB}"/>
              </a:ext>
            </a:extLst>
          </p:cNvPr>
          <p:cNvSpPr/>
          <p:nvPr/>
        </p:nvSpPr>
        <p:spPr>
          <a:xfrm>
            <a:off x="932300" y="6044989"/>
            <a:ext cx="507423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TIM2</a:t>
            </a:r>
            <a:br>
              <a:rPr lang="en-US" sz="800" dirty="0"/>
            </a:br>
            <a:r>
              <a:rPr lang="en-US" sz="800" dirty="0"/>
              <a:t>T0</a:t>
            </a:r>
          </a:p>
        </p:txBody>
      </p:sp>
      <p:sp>
        <p:nvSpPr>
          <p:cNvPr id="102" name="Rounded Rectangle 89">
            <a:extLst>
              <a:ext uri="{FF2B5EF4-FFF2-40B4-BE49-F238E27FC236}">
                <a16:creationId xmlns:a16="http://schemas.microsoft.com/office/drawing/2014/main" id="{33947EC5-83E8-0034-F30F-CF2FF5399566}"/>
              </a:ext>
            </a:extLst>
          </p:cNvPr>
          <p:cNvSpPr/>
          <p:nvPr/>
        </p:nvSpPr>
        <p:spPr>
          <a:xfrm>
            <a:off x="932300" y="6395093"/>
            <a:ext cx="513909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TIM2</a:t>
            </a:r>
            <a:br>
              <a:rPr lang="en-US" sz="800" dirty="0"/>
            </a:br>
            <a:r>
              <a:rPr lang="en-US" sz="800" dirty="0"/>
              <a:t>T1</a:t>
            </a:r>
          </a:p>
        </p:txBody>
      </p:sp>
      <p:sp>
        <p:nvSpPr>
          <p:cNvPr id="103" name="Rounded Rectangle 57">
            <a:extLst>
              <a:ext uri="{FF2B5EF4-FFF2-40B4-BE49-F238E27FC236}">
                <a16:creationId xmlns:a16="http://schemas.microsoft.com/office/drawing/2014/main" id="{D1D7735C-790A-D9A5-076A-F4F236D30912}"/>
              </a:ext>
            </a:extLst>
          </p:cNvPr>
          <p:cNvSpPr/>
          <p:nvPr/>
        </p:nvSpPr>
        <p:spPr>
          <a:xfrm>
            <a:off x="2726513" y="6044989"/>
            <a:ext cx="513910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CAN RXD</a:t>
            </a:r>
          </a:p>
        </p:txBody>
      </p:sp>
      <p:sp>
        <p:nvSpPr>
          <p:cNvPr id="104" name="Rounded Rectangle 57">
            <a:extLst>
              <a:ext uri="{FF2B5EF4-FFF2-40B4-BE49-F238E27FC236}">
                <a16:creationId xmlns:a16="http://schemas.microsoft.com/office/drawing/2014/main" id="{3534804A-9115-A756-BCAE-EA4CDBD3C828}"/>
              </a:ext>
            </a:extLst>
          </p:cNvPr>
          <p:cNvSpPr/>
          <p:nvPr/>
        </p:nvSpPr>
        <p:spPr>
          <a:xfrm>
            <a:off x="2726513" y="6412461"/>
            <a:ext cx="513910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CAN TXD</a:t>
            </a:r>
          </a:p>
        </p:txBody>
      </p:sp>
      <p:sp>
        <p:nvSpPr>
          <p:cNvPr id="105" name="Rounded Rectangle 89">
            <a:extLst>
              <a:ext uri="{FF2B5EF4-FFF2-40B4-BE49-F238E27FC236}">
                <a16:creationId xmlns:a16="http://schemas.microsoft.com/office/drawing/2014/main" id="{1A98B5B7-D1C9-E342-3476-2E4AE6B707F4}"/>
              </a:ext>
            </a:extLst>
          </p:cNvPr>
          <p:cNvSpPr/>
          <p:nvPr/>
        </p:nvSpPr>
        <p:spPr>
          <a:xfrm>
            <a:off x="387745" y="6041448"/>
            <a:ext cx="4478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PDM D0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1B090AF-F76D-AFE9-B00D-7AA0739F49F3}"/>
              </a:ext>
            </a:extLst>
          </p:cNvPr>
          <p:cNvSpPr txBox="1"/>
          <p:nvPr/>
        </p:nvSpPr>
        <p:spPr>
          <a:xfrm>
            <a:off x="3324259" y="4836716"/>
            <a:ext cx="4956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Pin</a:t>
            </a:r>
          </a:p>
          <a:p>
            <a:pPr algn="ctr"/>
            <a:r>
              <a:rPr lang="en-US" sz="1000" dirty="0"/>
              <a:t>Name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EF39340-1831-E961-9553-B26F56D50063}"/>
              </a:ext>
            </a:extLst>
          </p:cNvPr>
          <p:cNvSpPr txBox="1"/>
          <p:nvPr/>
        </p:nvSpPr>
        <p:spPr>
          <a:xfrm>
            <a:off x="620866" y="4909982"/>
            <a:ext cx="21451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Machine Module Peripherals / Timers</a:t>
            </a:r>
          </a:p>
        </p:txBody>
      </p:sp>
      <p:sp>
        <p:nvSpPr>
          <p:cNvPr id="110" name="Rounded Rectangle 89">
            <a:extLst>
              <a:ext uri="{FF2B5EF4-FFF2-40B4-BE49-F238E27FC236}">
                <a16:creationId xmlns:a16="http://schemas.microsoft.com/office/drawing/2014/main" id="{FAEE54C7-743D-0240-758E-D3A387322F94}"/>
              </a:ext>
            </a:extLst>
          </p:cNvPr>
          <p:cNvSpPr/>
          <p:nvPr/>
        </p:nvSpPr>
        <p:spPr>
          <a:xfrm>
            <a:off x="385196" y="6386809"/>
            <a:ext cx="4478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PDM C0</a:t>
            </a:r>
          </a:p>
        </p:txBody>
      </p:sp>
      <p:sp>
        <p:nvSpPr>
          <p:cNvPr id="121" name="Arrow: Bent 120">
            <a:extLst>
              <a:ext uri="{FF2B5EF4-FFF2-40B4-BE49-F238E27FC236}">
                <a16:creationId xmlns:a16="http://schemas.microsoft.com/office/drawing/2014/main" id="{EC60EC3F-C15A-1DC3-166D-08C9F81108D1}"/>
              </a:ext>
            </a:extLst>
          </p:cNvPr>
          <p:cNvSpPr/>
          <p:nvPr/>
        </p:nvSpPr>
        <p:spPr>
          <a:xfrm rot="5400000" flipH="1">
            <a:off x="4341355" y="5146885"/>
            <a:ext cx="686160" cy="1211612"/>
          </a:xfrm>
          <a:prstGeom prst="bentArrow">
            <a:avLst>
              <a:gd name="adj1" fmla="val 26257"/>
              <a:gd name="adj2" fmla="val 43858"/>
              <a:gd name="adj3" fmla="val 42601"/>
              <a:gd name="adj4" fmla="val 43750"/>
            </a:avLst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5DB31D1-18A3-E053-B86C-5DCE42DA1957}"/>
              </a:ext>
            </a:extLst>
          </p:cNvPr>
          <p:cNvSpPr txBox="1"/>
          <p:nvPr/>
        </p:nvSpPr>
        <p:spPr>
          <a:xfrm>
            <a:off x="4560554" y="6264950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QWIIC</a:t>
            </a:r>
            <a:br>
              <a:rPr lang="en-US" sz="1000" dirty="0"/>
            </a:br>
            <a:r>
              <a:rPr lang="en-US" sz="1000" dirty="0"/>
              <a:t>Connector</a:t>
            </a:r>
          </a:p>
        </p:txBody>
      </p:sp>
      <p:graphicFrame>
        <p:nvGraphicFramePr>
          <p:cNvPr id="126" name="Table 125">
            <a:extLst>
              <a:ext uri="{FF2B5EF4-FFF2-40B4-BE49-F238E27FC236}">
                <a16:creationId xmlns:a16="http://schemas.microsoft.com/office/drawing/2014/main" id="{CEF7282F-82BD-86AC-59BF-34DFDCB4E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100321"/>
              </p:ext>
            </p:extLst>
          </p:nvPr>
        </p:nvGraphicFramePr>
        <p:xfrm>
          <a:off x="8574451" y="137160"/>
          <a:ext cx="3416950" cy="65836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41695">
                  <a:extLst>
                    <a:ext uri="{9D8B030D-6E8A-4147-A177-3AD203B41FA5}">
                      <a16:colId xmlns:a16="http://schemas.microsoft.com/office/drawing/2014/main" val="3343784863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3544723384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3262217118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2896610704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3166218963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2336373273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2972315114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2659650404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3017223814"/>
                    </a:ext>
                  </a:extLst>
                </a:gridCol>
                <a:gridCol w="341695">
                  <a:extLst>
                    <a:ext uri="{9D8B030D-6E8A-4147-A177-3AD203B41FA5}">
                      <a16:colId xmlns:a16="http://schemas.microsoft.com/office/drawing/2014/main" val="2861757285"/>
                    </a:ext>
                  </a:extLst>
                </a:gridCol>
              </a:tblGrid>
              <a:tr h="176844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B2B Header Pinout (on the board backside)</a:t>
                      </a:r>
                    </a:p>
                  </a:txBody>
                  <a:tcPr marL="45720" marR="45720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253311998"/>
                  </a:ext>
                </a:extLst>
              </a:tr>
              <a:tr h="13754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B2B</a:t>
                      </a:r>
                      <a:endParaRPr lang="en-US" sz="800" b="1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Name</a:t>
                      </a:r>
                      <a:endParaRPr lang="en-US" sz="800" b="1" dirty="0"/>
                    </a:p>
                  </a:txBody>
                  <a:tcPr marL="45720" marR="45720" anchor="ctr"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Alternative Function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/>
                        <a:t>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/>
                        <a:t>Pin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60892955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SPI 0</a:t>
                      </a:r>
                      <a:br>
                        <a:rPr lang="en-US" sz="800" dirty="0"/>
                      </a:br>
                      <a:r>
                        <a:rPr lang="en-US" sz="800" dirty="0"/>
                        <a:t>MOSI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 2 SCL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4 TX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0 T1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PDM D3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P5.1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55796338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SPI 0</a:t>
                      </a:r>
                      <a:br>
                        <a:rPr lang="en-US" sz="800" dirty="0"/>
                      </a:br>
                      <a:r>
                        <a:rPr lang="en-US" sz="800" dirty="0"/>
                        <a:t>MISO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 2 SDA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4 RX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0 T0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P5.0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32499277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6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SPI 0 SCLK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LPI2C</a:t>
                      </a:r>
                      <a:br>
                        <a:rPr lang="en-US" sz="800" dirty="0"/>
                      </a:br>
                      <a:r>
                        <a:rPr lang="en-US" sz="800" dirty="0"/>
                        <a:t>SCA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5 TX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1 T1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P5.3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364935215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8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SPI 0</a:t>
                      </a:r>
                      <a:br>
                        <a:rPr lang="en-US" sz="800" dirty="0"/>
                      </a:br>
                      <a:r>
                        <a:rPr lang="en-US" sz="800" dirty="0"/>
                        <a:t>SS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LPI2C SCL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5 RX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1 T0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PDM C3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P5.2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39677260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I2C1 SCL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1 TX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2 T1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PDM C0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CAN TXD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P0.5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963341648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I2C1 SDA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1 RX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2 T0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PDM D0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CAN RXD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P0.4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57745346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P6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I2C1 SDA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UART 3 CTS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9 T0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P7.2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249845186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16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P7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I2C1 SCL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UART 3 RTS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9 T1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P7.3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963619438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18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P8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I3C SDA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UART 3 RX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5 T0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ANA S10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P1.2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011082300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20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I3C</a:t>
                      </a:r>
                      <a:br>
                        <a:rPr lang="en-US" sz="800" dirty="0"/>
                      </a:br>
                      <a:r>
                        <a:rPr lang="en-US" sz="800" dirty="0"/>
                        <a:t>SCL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UART 3 TX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TIM 5 T1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ANA S11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P1.3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907528019"/>
                  </a:ext>
                </a:extLst>
              </a:tr>
              <a:tr h="137546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1.8V Supply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319958411"/>
                  </a:ext>
                </a:extLst>
              </a:tr>
              <a:tr h="137546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P10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JTAG TCK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P4.4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074966516"/>
                  </a:ext>
                </a:extLst>
              </a:tr>
              <a:tr h="190067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P13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JTAG TMS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P4.5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908191661"/>
                  </a:ext>
                </a:extLst>
              </a:tr>
              <a:tr h="137546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7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P14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JTAG TDI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P4.6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214505056"/>
                  </a:ext>
                </a:extLst>
              </a:tr>
              <a:tr h="137546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P11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JTAG TDO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P4.7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376777526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11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JTAG RSTN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106178682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13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RECOVERY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1.8V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15819383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15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3.3V Supply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24329927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17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RSTN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3.3V Ref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52239121"/>
                  </a:ext>
                </a:extLst>
              </a:tr>
              <a:tr h="216143"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Pin 19</a:t>
                      </a:r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GND</a:t>
                      </a:r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554330950"/>
                  </a:ext>
                </a:extLst>
              </a:tr>
            </a:tbl>
          </a:graphicData>
        </a:graphic>
      </p:graphicFrame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07576509-8D44-B3DC-0CEB-C1606AE709AF}"/>
              </a:ext>
            </a:extLst>
          </p:cNvPr>
          <p:cNvCxnSpPr>
            <a:cxnSpLocks/>
          </p:cNvCxnSpPr>
          <p:nvPr/>
        </p:nvCxnSpPr>
        <p:spPr>
          <a:xfrm>
            <a:off x="7650418" y="3745451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39">
            <a:extLst>
              <a:ext uri="{FF2B5EF4-FFF2-40B4-BE49-F238E27FC236}">
                <a16:creationId xmlns:a16="http://schemas.microsoft.com/office/drawing/2014/main" id="{514A6617-0847-DDE3-3D15-F3EC14790A12}"/>
              </a:ext>
            </a:extLst>
          </p:cNvPr>
          <p:cNvSpPr/>
          <p:nvPr/>
        </p:nvSpPr>
        <p:spPr>
          <a:xfrm>
            <a:off x="7817079" y="3689241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TDO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26BC6B8E-7DCC-CBCE-AFD1-2FF5C21DCB11}"/>
              </a:ext>
            </a:extLst>
          </p:cNvPr>
          <p:cNvCxnSpPr>
            <a:cxnSpLocks/>
          </p:cNvCxnSpPr>
          <p:nvPr/>
        </p:nvCxnSpPr>
        <p:spPr>
          <a:xfrm>
            <a:off x="7646933" y="2726378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DB7D57BE-0F45-AA71-62F4-EAD9228BB640}"/>
              </a:ext>
            </a:extLst>
          </p:cNvPr>
          <p:cNvCxnSpPr>
            <a:cxnSpLocks/>
          </p:cNvCxnSpPr>
          <p:nvPr/>
        </p:nvCxnSpPr>
        <p:spPr>
          <a:xfrm>
            <a:off x="7646933" y="2894010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52AEDB52-65AD-7F1E-7652-B10053C8152F}"/>
              </a:ext>
            </a:extLst>
          </p:cNvPr>
          <p:cNvCxnSpPr>
            <a:cxnSpLocks/>
          </p:cNvCxnSpPr>
          <p:nvPr/>
        </p:nvCxnSpPr>
        <p:spPr>
          <a:xfrm>
            <a:off x="7646933" y="3071810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3E6D789F-7C4E-5D51-698B-3B371FF941C8}"/>
              </a:ext>
            </a:extLst>
          </p:cNvPr>
          <p:cNvCxnSpPr>
            <a:cxnSpLocks/>
          </p:cNvCxnSpPr>
          <p:nvPr/>
        </p:nvCxnSpPr>
        <p:spPr>
          <a:xfrm>
            <a:off x="7650418" y="3573460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3AEBF6BA-9DA4-2C7F-7244-392810FFAC02}"/>
              </a:ext>
            </a:extLst>
          </p:cNvPr>
          <p:cNvCxnSpPr>
            <a:cxnSpLocks/>
          </p:cNvCxnSpPr>
          <p:nvPr/>
        </p:nvCxnSpPr>
        <p:spPr>
          <a:xfrm>
            <a:off x="7646933" y="3402523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39">
            <a:extLst>
              <a:ext uri="{FF2B5EF4-FFF2-40B4-BE49-F238E27FC236}">
                <a16:creationId xmlns:a16="http://schemas.microsoft.com/office/drawing/2014/main" id="{521B526C-37EF-C9F3-6A34-B1C3694159FF}"/>
              </a:ext>
            </a:extLst>
          </p:cNvPr>
          <p:cNvSpPr/>
          <p:nvPr/>
        </p:nvSpPr>
        <p:spPr>
          <a:xfrm>
            <a:off x="7815571" y="3514533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GND</a:t>
            </a:r>
          </a:p>
        </p:txBody>
      </p:sp>
      <p:sp>
        <p:nvSpPr>
          <p:cNvPr id="164" name="Rounded Rectangle 39">
            <a:extLst>
              <a:ext uri="{FF2B5EF4-FFF2-40B4-BE49-F238E27FC236}">
                <a16:creationId xmlns:a16="http://schemas.microsoft.com/office/drawing/2014/main" id="{FE69073B-D9B5-0862-814C-92C50A042133}"/>
              </a:ext>
            </a:extLst>
          </p:cNvPr>
          <p:cNvSpPr/>
          <p:nvPr/>
        </p:nvSpPr>
        <p:spPr>
          <a:xfrm>
            <a:off x="7811139" y="3347656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TCK</a:t>
            </a:r>
          </a:p>
        </p:txBody>
      </p:sp>
      <p:sp>
        <p:nvSpPr>
          <p:cNvPr id="165" name="Rounded Rectangle 39">
            <a:extLst>
              <a:ext uri="{FF2B5EF4-FFF2-40B4-BE49-F238E27FC236}">
                <a16:creationId xmlns:a16="http://schemas.microsoft.com/office/drawing/2014/main" id="{64CF1267-0274-A16C-D29A-BE8C9DBDAD69}"/>
              </a:ext>
            </a:extLst>
          </p:cNvPr>
          <p:cNvSpPr/>
          <p:nvPr/>
        </p:nvSpPr>
        <p:spPr>
          <a:xfrm>
            <a:off x="7809882" y="3011713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RSTN</a:t>
            </a:r>
          </a:p>
        </p:txBody>
      </p:sp>
      <p:sp>
        <p:nvSpPr>
          <p:cNvPr id="166" name="Rounded Rectangle 39">
            <a:extLst>
              <a:ext uri="{FF2B5EF4-FFF2-40B4-BE49-F238E27FC236}">
                <a16:creationId xmlns:a16="http://schemas.microsoft.com/office/drawing/2014/main" id="{9DFBEB03-9CC8-2748-72B2-1560D40F59E1}"/>
              </a:ext>
            </a:extLst>
          </p:cNvPr>
          <p:cNvSpPr/>
          <p:nvPr/>
        </p:nvSpPr>
        <p:spPr>
          <a:xfrm>
            <a:off x="7809881" y="2834052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TMS</a:t>
            </a:r>
          </a:p>
        </p:txBody>
      </p:sp>
      <p:sp>
        <p:nvSpPr>
          <p:cNvPr id="167" name="Rounded Rectangle 39">
            <a:extLst>
              <a:ext uri="{FF2B5EF4-FFF2-40B4-BE49-F238E27FC236}">
                <a16:creationId xmlns:a16="http://schemas.microsoft.com/office/drawing/2014/main" id="{78003DFB-2D33-DD94-2205-E867CB0DB165}"/>
              </a:ext>
            </a:extLst>
          </p:cNvPr>
          <p:cNvSpPr/>
          <p:nvPr/>
        </p:nvSpPr>
        <p:spPr>
          <a:xfrm>
            <a:off x="7809880" y="2668786"/>
            <a:ext cx="566335" cy="120079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1.8V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4405B7D3-0108-6FC2-36DF-136F99DEDF40}"/>
              </a:ext>
            </a:extLst>
          </p:cNvPr>
          <p:cNvSpPr txBox="1"/>
          <p:nvPr/>
        </p:nvSpPr>
        <p:spPr>
          <a:xfrm>
            <a:off x="7812789" y="2321085"/>
            <a:ext cx="574916" cy="200055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700" dirty="0"/>
              <a:t>1.8V SWD</a:t>
            </a:r>
            <a:endParaRPr lang="en-US" sz="700" baseline="30000" dirty="0"/>
          </a:p>
        </p:txBody>
      </p:sp>
      <p:cxnSp>
        <p:nvCxnSpPr>
          <p:cNvPr id="16" name="Straight Connector 15"/>
          <p:cNvCxnSpPr>
            <a:cxnSpLocks/>
          </p:cNvCxnSpPr>
          <p:nvPr/>
        </p:nvCxnSpPr>
        <p:spPr>
          <a:xfrm>
            <a:off x="229475" y="2463511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cxnSpLocks/>
          </p:cNvCxnSpPr>
          <p:nvPr/>
        </p:nvCxnSpPr>
        <p:spPr>
          <a:xfrm>
            <a:off x="229475" y="2812103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cxnSpLocks/>
          </p:cNvCxnSpPr>
          <p:nvPr/>
        </p:nvCxnSpPr>
        <p:spPr>
          <a:xfrm>
            <a:off x="229475" y="3159631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cxnSpLocks/>
          </p:cNvCxnSpPr>
          <p:nvPr/>
        </p:nvCxnSpPr>
        <p:spPr>
          <a:xfrm>
            <a:off x="229475" y="3507103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229475" y="3856353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cxnSpLocks/>
          </p:cNvCxnSpPr>
          <p:nvPr/>
        </p:nvCxnSpPr>
        <p:spPr>
          <a:xfrm>
            <a:off x="229475" y="4202047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cxnSpLocks/>
          </p:cNvCxnSpPr>
          <p:nvPr/>
        </p:nvCxnSpPr>
        <p:spPr>
          <a:xfrm>
            <a:off x="229475" y="4549519"/>
            <a:ext cx="37007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328221" y="3040759"/>
            <a:ext cx="457200" cy="22860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221" y="3391949"/>
            <a:ext cx="457200" cy="228600"/>
          </a:xfrm>
          <a:prstGeom prst="roundRect">
            <a:avLst/>
          </a:prstGeom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28221" y="3739672"/>
            <a:ext cx="457200" cy="22860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28221" y="4084952"/>
            <a:ext cx="457200" cy="22860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1707" y="2690439"/>
            <a:ext cx="3419621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3.3V Rail (1A supply Max)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1707" y="2349897"/>
            <a:ext cx="34169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GND Rail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191791" y="3731606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I2C 2 SDA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191791" y="4079078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I2C 2</a:t>
            </a:r>
            <a:br>
              <a:rPr lang="en-US" sz="800" dirty="0"/>
            </a:br>
            <a:r>
              <a:rPr lang="en-US" sz="800" dirty="0"/>
              <a:t>SCL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91791" y="3036059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LPI2C SCL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1791" y="3385309"/>
            <a:ext cx="447852" cy="22860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LPI2C</a:t>
            </a:r>
            <a:br>
              <a:rPr lang="en-US" sz="800" dirty="0"/>
            </a:br>
            <a:r>
              <a:rPr lang="en-US" sz="800" dirty="0"/>
              <a:t>SDA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51711" y="4076234"/>
            <a:ext cx="548640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4 TX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47582" y="3735575"/>
            <a:ext cx="548640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4</a:t>
            </a:r>
            <a:br>
              <a:rPr lang="en-US" sz="800" dirty="0"/>
            </a:br>
            <a:r>
              <a:rPr lang="en-US" sz="800" dirty="0"/>
              <a:t>RX</a:t>
            </a: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401" y="120633"/>
            <a:ext cx="3067992" cy="91017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960813" y="913108"/>
            <a:ext cx="12715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 Black" panose="020B0A04020102020204" pitchFamily="34" charset="0"/>
              </a:rPr>
              <a:t>OpenMV AE3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07534" y="1851703"/>
            <a:ext cx="4956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Pin</a:t>
            </a:r>
          </a:p>
          <a:p>
            <a:pPr algn="ctr"/>
            <a:r>
              <a:rPr lang="en-US" sz="1000" dirty="0"/>
              <a:t>Name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1707" y="4433984"/>
            <a:ext cx="3409303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Reset (Connect to GND to reset)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4141" y="1924969"/>
            <a:ext cx="21451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Machine Module Peripherals / Timers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1707" y="1177114"/>
            <a:ext cx="3406756" cy="46166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All pins are 3.3V tolerant with a 3.3V output</a:t>
            </a:r>
          </a:p>
          <a:p>
            <a:r>
              <a:rPr lang="en-US" sz="1200" dirty="0"/>
              <a:t>All pins can sink or source up to 25 mA</a:t>
            </a:r>
            <a:r>
              <a:rPr lang="en-US" sz="1200" baseline="30000" dirty="0"/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19724" y="1205429"/>
            <a:ext cx="284885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cs typeface="Arial" panose="020B0604020202020204" pitchFamily="34" charset="0"/>
              </a:rPr>
              <a:t>By: Ibrahim Abdelkader &amp; Kwabena W. Agyeman</a:t>
            </a:r>
          </a:p>
          <a:p>
            <a:pPr algn="r"/>
            <a:r>
              <a:rPr lang="en-US" sz="1050" dirty="0">
                <a:cs typeface="Arial" panose="020B0604020202020204" pitchFamily="34" charset="0"/>
              </a:rPr>
              <a:t>https://openmv.io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41617" y="3385309"/>
            <a:ext cx="547678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5 TX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54347" y="3036059"/>
            <a:ext cx="541875" cy="2286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UART 5 RX</a:t>
            </a:r>
          </a:p>
        </p:txBody>
      </p:sp>
      <p:sp>
        <p:nvSpPr>
          <p:cNvPr id="123" name="Rounded Rectangle 89">
            <a:extLst>
              <a:ext uri="{FF2B5EF4-FFF2-40B4-BE49-F238E27FC236}">
                <a16:creationId xmlns:a16="http://schemas.microsoft.com/office/drawing/2014/main" id="{62F637D1-D727-2A1C-DFE6-9AC73F0ADDD7}"/>
              </a:ext>
            </a:extLst>
          </p:cNvPr>
          <p:cNvSpPr/>
          <p:nvPr/>
        </p:nvSpPr>
        <p:spPr>
          <a:xfrm>
            <a:off x="940389" y="3739672"/>
            <a:ext cx="509783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TIM0</a:t>
            </a:r>
          </a:p>
          <a:p>
            <a:pPr algn="ctr"/>
            <a:r>
              <a:rPr lang="en-US" sz="800" dirty="0"/>
              <a:t>T0</a:t>
            </a:r>
          </a:p>
        </p:txBody>
      </p:sp>
      <p:sp>
        <p:nvSpPr>
          <p:cNvPr id="124" name="Rounded Rectangle 89">
            <a:extLst>
              <a:ext uri="{FF2B5EF4-FFF2-40B4-BE49-F238E27FC236}">
                <a16:creationId xmlns:a16="http://schemas.microsoft.com/office/drawing/2014/main" id="{4EC310CE-0588-5B6D-C5E3-9A5AC1753E1E}"/>
              </a:ext>
            </a:extLst>
          </p:cNvPr>
          <p:cNvSpPr/>
          <p:nvPr/>
        </p:nvSpPr>
        <p:spPr>
          <a:xfrm>
            <a:off x="941780" y="4083175"/>
            <a:ext cx="508392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TIM0</a:t>
            </a:r>
            <a:br>
              <a:rPr lang="en-US" sz="800" dirty="0"/>
            </a:br>
            <a:r>
              <a:rPr lang="en-US" sz="800" dirty="0"/>
              <a:t>T1</a:t>
            </a:r>
          </a:p>
        </p:txBody>
      </p:sp>
      <p:sp>
        <p:nvSpPr>
          <p:cNvPr id="125" name="Rounded Rectangle 89">
            <a:extLst>
              <a:ext uri="{FF2B5EF4-FFF2-40B4-BE49-F238E27FC236}">
                <a16:creationId xmlns:a16="http://schemas.microsoft.com/office/drawing/2014/main" id="{E629B15E-B292-682A-7101-B38A3976C7DE}"/>
              </a:ext>
            </a:extLst>
          </p:cNvPr>
          <p:cNvSpPr/>
          <p:nvPr/>
        </p:nvSpPr>
        <p:spPr>
          <a:xfrm>
            <a:off x="936262" y="3026988"/>
            <a:ext cx="507423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TIM1</a:t>
            </a:r>
            <a:br>
              <a:rPr lang="en-US" sz="800" dirty="0"/>
            </a:br>
            <a:r>
              <a:rPr lang="en-US" sz="800" dirty="0"/>
              <a:t>T0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F97878A-A8C4-440B-663D-F7F2FA4653BD}"/>
              </a:ext>
            </a:extLst>
          </p:cNvPr>
          <p:cNvCxnSpPr>
            <a:cxnSpLocks/>
          </p:cNvCxnSpPr>
          <p:nvPr/>
        </p:nvCxnSpPr>
        <p:spPr>
          <a:xfrm>
            <a:off x="7651924" y="4497344"/>
            <a:ext cx="399288" cy="0"/>
          </a:xfrm>
          <a:prstGeom prst="line">
            <a:avLst/>
          </a:prstGeom>
          <a:ln w="38100">
            <a:solidFill>
              <a:schemeClr val="tx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89">
            <a:extLst>
              <a:ext uri="{FF2B5EF4-FFF2-40B4-BE49-F238E27FC236}">
                <a16:creationId xmlns:a16="http://schemas.microsoft.com/office/drawing/2014/main" id="{CAE9F56F-765E-F3AF-2B58-7BB2511F0498}"/>
              </a:ext>
            </a:extLst>
          </p:cNvPr>
          <p:cNvSpPr/>
          <p:nvPr/>
        </p:nvSpPr>
        <p:spPr>
          <a:xfrm>
            <a:off x="936262" y="3377092"/>
            <a:ext cx="513909" cy="228600"/>
          </a:xfrm>
          <a:prstGeom prst="round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100000">
                <a:srgbClr val="C00000"/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TIM1</a:t>
            </a:r>
            <a:br>
              <a:rPr lang="en-US" sz="800" dirty="0"/>
            </a:br>
            <a:r>
              <a:rPr lang="en-US" sz="800" dirty="0"/>
              <a:t>T1</a:t>
            </a:r>
          </a:p>
        </p:txBody>
      </p:sp>
      <p:sp>
        <p:nvSpPr>
          <p:cNvPr id="44" name="Rounded Rectangle 57">
            <a:extLst>
              <a:ext uri="{FF2B5EF4-FFF2-40B4-BE49-F238E27FC236}">
                <a16:creationId xmlns:a16="http://schemas.microsoft.com/office/drawing/2014/main" id="{49C57529-EF0D-501C-4CCE-25517CA234CA}"/>
              </a:ext>
            </a:extLst>
          </p:cNvPr>
          <p:cNvSpPr/>
          <p:nvPr/>
        </p:nvSpPr>
        <p:spPr>
          <a:xfrm>
            <a:off x="2730475" y="3026988"/>
            <a:ext cx="513910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SPI 0 SS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0A64FC1D-DACF-B557-5DF7-1CD315BEF024}"/>
              </a:ext>
            </a:extLst>
          </p:cNvPr>
          <p:cNvSpPr/>
          <p:nvPr/>
        </p:nvSpPr>
        <p:spPr>
          <a:xfrm>
            <a:off x="2731083" y="3369832"/>
            <a:ext cx="513910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SPI 0 SCLK</a:t>
            </a:r>
          </a:p>
        </p:txBody>
      </p:sp>
      <p:sp>
        <p:nvSpPr>
          <p:cNvPr id="46" name="Rounded Rectangle 57">
            <a:extLst>
              <a:ext uri="{FF2B5EF4-FFF2-40B4-BE49-F238E27FC236}">
                <a16:creationId xmlns:a16="http://schemas.microsoft.com/office/drawing/2014/main" id="{54D018E1-5500-A372-F322-D7952C612BE1}"/>
              </a:ext>
            </a:extLst>
          </p:cNvPr>
          <p:cNvSpPr/>
          <p:nvPr/>
        </p:nvSpPr>
        <p:spPr>
          <a:xfrm>
            <a:off x="2731083" y="3735703"/>
            <a:ext cx="509783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SPI 0 MISO</a:t>
            </a:r>
          </a:p>
        </p:txBody>
      </p:sp>
      <p:sp>
        <p:nvSpPr>
          <p:cNvPr id="47" name="Rounded Rectangle 57">
            <a:extLst>
              <a:ext uri="{FF2B5EF4-FFF2-40B4-BE49-F238E27FC236}">
                <a16:creationId xmlns:a16="http://schemas.microsoft.com/office/drawing/2014/main" id="{DB19ECE2-43AA-B632-B513-6501565B4223}"/>
              </a:ext>
            </a:extLst>
          </p:cNvPr>
          <p:cNvSpPr/>
          <p:nvPr/>
        </p:nvSpPr>
        <p:spPr>
          <a:xfrm>
            <a:off x="2735993" y="4076144"/>
            <a:ext cx="508392" cy="2286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SPI 0</a:t>
            </a:r>
            <a:br>
              <a:rPr lang="en-US" sz="800" dirty="0"/>
            </a:br>
            <a:r>
              <a:rPr lang="en-US" sz="800" dirty="0"/>
              <a:t>MOSI</a:t>
            </a:r>
          </a:p>
        </p:txBody>
      </p:sp>
      <p:sp>
        <p:nvSpPr>
          <p:cNvPr id="155" name="Rounded Rectangle 39">
            <a:extLst>
              <a:ext uri="{FF2B5EF4-FFF2-40B4-BE49-F238E27FC236}">
                <a16:creationId xmlns:a16="http://schemas.microsoft.com/office/drawing/2014/main" id="{2B3D481B-ABC6-96CA-2A22-E2D43F884AFF}"/>
              </a:ext>
            </a:extLst>
          </p:cNvPr>
          <p:cNvSpPr/>
          <p:nvPr/>
        </p:nvSpPr>
        <p:spPr>
          <a:xfrm>
            <a:off x="7817080" y="4383044"/>
            <a:ext cx="566335" cy="22860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SW</a:t>
            </a:r>
          </a:p>
        </p:txBody>
      </p:sp>
      <p:sp>
        <p:nvSpPr>
          <p:cNvPr id="71" name="Rounded Rectangle 89">
            <a:extLst>
              <a:ext uri="{FF2B5EF4-FFF2-40B4-BE49-F238E27FC236}">
                <a16:creationId xmlns:a16="http://schemas.microsoft.com/office/drawing/2014/main" id="{17EE1625-9851-65C3-13D9-6B5C13E72272}"/>
              </a:ext>
            </a:extLst>
          </p:cNvPr>
          <p:cNvSpPr/>
          <p:nvPr/>
        </p:nvSpPr>
        <p:spPr>
          <a:xfrm>
            <a:off x="391707" y="3023447"/>
            <a:ext cx="4478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PDM C3</a:t>
            </a:r>
          </a:p>
        </p:txBody>
      </p:sp>
      <p:sp>
        <p:nvSpPr>
          <p:cNvPr id="70" name="Rounded Rectangle 89">
            <a:extLst>
              <a:ext uri="{FF2B5EF4-FFF2-40B4-BE49-F238E27FC236}">
                <a16:creationId xmlns:a16="http://schemas.microsoft.com/office/drawing/2014/main" id="{7AE56966-5C1F-6FE0-D418-0BEE4CCE8D4C}"/>
              </a:ext>
            </a:extLst>
          </p:cNvPr>
          <p:cNvSpPr/>
          <p:nvPr/>
        </p:nvSpPr>
        <p:spPr>
          <a:xfrm>
            <a:off x="392387" y="4081008"/>
            <a:ext cx="447854" cy="228600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PDM D3</a:t>
            </a:r>
          </a:p>
        </p:txBody>
      </p:sp>
    </p:spTree>
    <p:extLst>
      <p:ext uri="{BB962C8B-B14F-4D97-AF65-F5344CB8AC3E}">
        <p14:creationId xmlns:p14="http://schemas.microsoft.com/office/powerpoint/2010/main" val="3950258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676</TotalTime>
  <Words>423</Words>
  <Application>Microsoft Office PowerPoint</Application>
  <PresentationFormat>Widescreen</PresentationFormat>
  <Paragraphs>184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Arial Black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Kwabena Agyeman</dc:creator>
  <cp:lastModifiedBy>Kwabena Agyeman</cp:lastModifiedBy>
  <cp:revision>74</cp:revision>
  <dcterms:created xsi:type="dcterms:W3CDTF">2016-05-19T00:38:48Z</dcterms:created>
  <dcterms:modified xsi:type="dcterms:W3CDTF">2026-01-10T00:44:40Z</dcterms:modified>
</cp:coreProperties>
</file>